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640714" y="7544460"/>
            <a:ext cx="11717869" cy="339722"/>
          </a:xfrm>
          <a:prstGeom prst="rect">
            <a:avLst/>
          </a:prstGeom>
        </p:spPr>
        <p:txBody>
          <a:bodyPr lIns="24383" tIns="24383" rIns="24383" bIns="24383"/>
          <a:lstStyle>
            <a:lvl1pPr defTabSz="487228">
              <a:defRPr sz="1992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616374" y="528319"/>
            <a:ext cx="14264642" cy="85434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643466" y="5019040"/>
            <a:ext cx="11717868" cy="2479041"/>
          </a:xfrm>
          <a:prstGeom prst="rect">
            <a:avLst/>
          </a:prstGeom>
        </p:spPr>
        <p:txBody>
          <a:bodyPr/>
          <a:lstStyle/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644101" y="1809140"/>
            <a:ext cx="11716599" cy="339722"/>
          </a:xfrm>
          <a:prstGeom prst="rect">
            <a:avLst/>
          </a:prstGeom>
        </p:spPr>
        <p:txBody>
          <a:bodyPr lIns="24383" tIns="24383" rIns="24383" bIns="24383"/>
          <a:lstStyle>
            <a:lvl1pPr defTabSz="487228">
              <a:defRPr sz="1992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643466" y="7411152"/>
            <a:ext cx="11717868" cy="595708"/>
          </a:xfrm>
          <a:prstGeom prst="rect">
            <a:avLst/>
          </a:prstGeom>
        </p:spPr>
        <p:txBody>
          <a:bodyPr/>
          <a:lstStyle/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sz="half" idx="21"/>
          </p:nvPr>
        </p:nvSpPr>
        <p:spPr>
          <a:xfrm>
            <a:off x="5852159" y="1110826"/>
            <a:ext cx="6477248" cy="75387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643466" y="1896533"/>
            <a:ext cx="5215468" cy="3137213"/>
          </a:xfrm>
          <a:prstGeom prst="rect">
            <a:avLst/>
          </a:prstGeom>
        </p:spPr>
        <p:txBody>
          <a:bodyPr/>
          <a:lstStyle>
            <a:lvl1pPr>
              <a:defRPr spc="-119" sz="6000"/>
            </a:lvl1pPr>
          </a:lstStyle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643466" y="4984840"/>
            <a:ext cx="5215468" cy="2872227"/>
          </a:xfrm>
          <a:prstGeom prst="rect">
            <a:avLst/>
          </a:prstGeom>
        </p:spPr>
        <p:txBody>
          <a:bodyPr/>
          <a:lstStyle/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6380889" y="8170058"/>
            <a:ext cx="236357" cy="22772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643466" y="1794933"/>
            <a:ext cx="11717868" cy="764354"/>
          </a:xfrm>
          <a:prstGeom prst="rect">
            <a:avLst/>
          </a:prstGeom>
        </p:spPr>
        <p:txBody>
          <a:bodyPr anchor="t"/>
          <a:lstStyle>
            <a:lvl1pPr>
              <a:defRPr spc="-119" sz="6000"/>
            </a:lvl1pPr>
          </a:lstStyle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643466" y="2484779"/>
            <a:ext cx="117178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xfrm>
            <a:off x="643466" y="3485069"/>
            <a:ext cx="11717868" cy="4403207"/>
          </a:xfrm>
          <a:prstGeom prst="rect">
            <a:avLst/>
          </a:prstGeom>
        </p:spPr>
        <p:txBody>
          <a:bodyPr/>
          <a:lstStyle>
            <a:lvl1pPr marL="4318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1pPr>
            <a:lvl2pPr marL="10414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2pPr>
            <a:lvl3pPr marL="16510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3pPr>
            <a:lvl4pPr marL="22606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4pPr>
            <a:lvl5pPr marL="28702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643466" y="3485069"/>
            <a:ext cx="11717868" cy="4403207"/>
          </a:xfrm>
          <a:prstGeom prst="rect">
            <a:avLst/>
          </a:prstGeom>
        </p:spPr>
        <p:txBody>
          <a:bodyPr numCol="2" spcCol="585893"/>
          <a:lstStyle>
            <a:lvl1pPr marL="4318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1pPr>
            <a:lvl2pPr marL="10414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2pPr>
            <a:lvl3pPr marL="16510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3pPr>
            <a:lvl4pPr marL="22606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4pPr>
            <a:lvl5pPr marL="28702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643466" y="2484779"/>
            <a:ext cx="52154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quarter" idx="1" hasCustomPrompt="1"/>
          </p:nvPr>
        </p:nvSpPr>
        <p:spPr>
          <a:xfrm>
            <a:off x="643466" y="3485069"/>
            <a:ext cx="5215468" cy="4403536"/>
          </a:xfrm>
          <a:prstGeom prst="rect">
            <a:avLst/>
          </a:prstGeom>
        </p:spPr>
        <p:txBody>
          <a:bodyPr/>
          <a:lstStyle>
            <a:lvl1pPr marL="4318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1pPr>
            <a:lvl2pPr marL="10414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2pPr>
            <a:lvl3pPr marL="16510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3pPr>
            <a:lvl4pPr marL="22606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4pPr>
            <a:lvl5pPr marL="28702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b="0" sz="3400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sz="half" idx="22"/>
          </p:nvPr>
        </p:nvSpPr>
        <p:spPr>
          <a:xfrm>
            <a:off x="6502400" y="1001991"/>
            <a:ext cx="5822333" cy="776311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643466" y="1794933"/>
            <a:ext cx="5215468" cy="765387"/>
          </a:xfrm>
          <a:prstGeom prst="rect">
            <a:avLst/>
          </a:prstGeom>
        </p:spPr>
        <p:txBody>
          <a:bodyPr anchor="t"/>
          <a:lstStyle>
            <a:lvl1pPr>
              <a:defRPr spc="-119" sz="6000"/>
            </a:lvl1pPr>
          </a:lstStyle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643464" y="3637279"/>
            <a:ext cx="11717870" cy="2479042"/>
          </a:xfrm>
          <a:prstGeom prst="rect">
            <a:avLst/>
          </a:prstGeom>
        </p:spPr>
        <p:txBody>
          <a:bodyPr anchor="ctr"/>
          <a:lstStyle>
            <a:lvl1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6380889" y="8170058"/>
            <a:ext cx="236357" cy="22772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643466" y="1794933"/>
            <a:ext cx="11717868" cy="765307"/>
          </a:xfrm>
          <a:prstGeom prst="rect">
            <a:avLst/>
          </a:prstGeom>
        </p:spPr>
        <p:txBody>
          <a:bodyPr anchor="t"/>
          <a:lstStyle>
            <a:lvl1pPr>
              <a:defRPr spc="-119" sz="6000"/>
            </a:lvl1pPr>
          </a:lstStyle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643466" y="2484779"/>
            <a:ext cx="117178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643466" y="1794933"/>
            <a:ext cx="11717868" cy="765387"/>
          </a:xfrm>
          <a:prstGeom prst="rect">
            <a:avLst/>
          </a:prstGeom>
        </p:spPr>
        <p:txBody>
          <a:bodyPr anchor="t"/>
          <a:lstStyle>
            <a:lvl1pPr>
              <a:defRPr spc="-119" sz="6000"/>
            </a:lvl1pPr>
          </a:lstStyle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643466" y="2484779"/>
            <a:ext cx="117178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xfrm>
            <a:off x="643466" y="3485069"/>
            <a:ext cx="11717868" cy="4403207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b="0" spc="-38"/>
            </a:lvl1pPr>
            <a:lvl2pPr>
              <a:spcBef>
                <a:spcPts val="1200"/>
              </a:spcBef>
              <a:defRPr b="0" spc="-38"/>
            </a:lvl2pPr>
            <a:lvl3pPr>
              <a:spcBef>
                <a:spcPts val="1200"/>
              </a:spcBef>
              <a:defRPr b="0" spc="-38"/>
            </a:lvl3pPr>
            <a:lvl4pPr>
              <a:spcBef>
                <a:spcPts val="1200"/>
              </a:spcBef>
              <a:defRPr b="0" spc="-38"/>
            </a:lvl4pPr>
            <a:lvl5pPr>
              <a:spcBef>
                <a:spcPts val="1200"/>
              </a:spcBef>
              <a:defRPr b="0" spc="-38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quarter" idx="1" hasCustomPrompt="1"/>
          </p:nvPr>
        </p:nvSpPr>
        <p:spPr>
          <a:xfrm>
            <a:off x="643466" y="3843649"/>
            <a:ext cx="11717868" cy="2066302"/>
          </a:xfrm>
          <a:prstGeom prst="rect">
            <a:avLst/>
          </a:prstGeom>
        </p:spPr>
        <p:txBody>
          <a:bodyPr anchor="ctr"/>
          <a:lstStyle>
            <a:lvl1pPr algn="ctr" defTabSz="1733930">
              <a:lnSpc>
                <a:spcPct val="80000"/>
              </a:lnSpc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algn="ctr" defTabSz="1733930">
              <a:lnSpc>
                <a:spcPct val="80000"/>
              </a:lnSpc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algn="ctr" defTabSz="1733930">
              <a:lnSpc>
                <a:spcPct val="80000"/>
              </a:lnSpc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algn="ctr" defTabSz="1733930">
              <a:lnSpc>
                <a:spcPct val="80000"/>
              </a:lnSpc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algn="ctr" defTabSz="1733930">
              <a:lnSpc>
                <a:spcPct val="80000"/>
              </a:lnSpc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sz="half" idx="1" hasCustomPrompt="1"/>
          </p:nvPr>
        </p:nvSpPr>
        <p:spPr>
          <a:xfrm>
            <a:off x="643466" y="1793027"/>
            <a:ext cx="11717868" cy="3862179"/>
          </a:xfrm>
          <a:prstGeom prst="rect">
            <a:avLst/>
          </a:prstGeom>
        </p:spPr>
        <p:txBody>
          <a:bodyPr anchor="b"/>
          <a:lstStyle>
            <a:lvl1pPr algn="ctr" defTabSz="1733930">
              <a:lnSpc>
                <a:spcPct val="80000"/>
              </a:lnSpc>
              <a:defRPr spc="-176" sz="17600"/>
            </a:lvl1pPr>
            <a:lvl2pPr algn="ctr" defTabSz="1733930">
              <a:lnSpc>
                <a:spcPct val="80000"/>
              </a:lnSpc>
              <a:defRPr spc="-176" sz="17600"/>
            </a:lvl2pPr>
            <a:lvl3pPr algn="ctr" defTabSz="1733930">
              <a:lnSpc>
                <a:spcPct val="80000"/>
              </a:lnSpc>
              <a:defRPr spc="-176" sz="17600"/>
            </a:lvl3pPr>
            <a:lvl4pPr algn="ctr" defTabSz="1733930">
              <a:lnSpc>
                <a:spcPct val="80000"/>
              </a:lnSpc>
              <a:defRPr spc="-176" sz="17600"/>
            </a:lvl4pPr>
            <a:lvl5pPr algn="ctr" defTabSz="1733930">
              <a:lnSpc>
                <a:spcPct val="80000"/>
              </a:lnSpc>
              <a:defRPr spc="-176" sz="176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643466" y="5625696"/>
            <a:ext cx="11717868" cy="498550"/>
          </a:xfrm>
          <a:prstGeom prst="rect">
            <a:avLst/>
          </a:prstGeom>
        </p:spPr>
        <p:txBody>
          <a:bodyPr lIns="24383" tIns="24383" rIns="24383" bIns="24383"/>
          <a:lstStyle>
            <a:lvl1pPr algn="ctr" defTabSz="457877">
              <a:defRPr sz="2964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1296013" y="6912775"/>
            <a:ext cx="10773362" cy="339723"/>
          </a:xfrm>
          <a:prstGeom prst="rect">
            <a:avLst/>
          </a:prstGeom>
        </p:spPr>
        <p:txBody>
          <a:bodyPr lIns="24383" tIns="24383" rIns="24383" bIns="24383"/>
          <a:lstStyle>
            <a:lvl1pPr defTabSz="487228">
              <a:defRPr sz="1992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quarter" idx="1" hasCustomPrompt="1"/>
          </p:nvPr>
        </p:nvSpPr>
        <p:spPr>
          <a:xfrm>
            <a:off x="935425" y="3853792"/>
            <a:ext cx="11133950" cy="2046016"/>
          </a:xfrm>
          <a:prstGeom prst="rect">
            <a:avLst/>
          </a:prstGeom>
        </p:spPr>
        <p:txBody>
          <a:bodyPr/>
          <a:lstStyle>
            <a:lvl1pPr marL="454345" indent="-334151" defTabSz="1733930">
              <a:lnSpc>
                <a:spcPct val="90000"/>
              </a:lnSpc>
              <a:defRPr b="0"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4345" indent="123048" defTabSz="1733930">
              <a:lnSpc>
                <a:spcPct val="90000"/>
              </a:lnSpc>
              <a:defRPr b="0"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4345" indent="580248" defTabSz="1733930">
              <a:lnSpc>
                <a:spcPct val="90000"/>
              </a:lnSpc>
              <a:defRPr b="0"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4345" indent="1037448" defTabSz="1733930">
              <a:lnSpc>
                <a:spcPct val="90000"/>
              </a:lnSpc>
              <a:defRPr b="0"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4345" indent="1494648" defTabSz="1733930">
              <a:lnSpc>
                <a:spcPct val="90000"/>
              </a:lnSpc>
              <a:defRPr b="0"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8405706" y="1761066"/>
            <a:ext cx="3967521" cy="317316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7200053" y="3340946"/>
            <a:ext cx="5567681" cy="648009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74508" y="1483359"/>
            <a:ext cx="8859522" cy="66446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711201" y="-1727201"/>
            <a:ext cx="14427202" cy="1154176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ation Title"/>
          <p:cNvSpPr txBox="1"/>
          <p:nvPr>
            <p:ph type="title" hasCustomPrompt="1"/>
          </p:nvPr>
        </p:nvSpPr>
        <p:spPr>
          <a:xfrm>
            <a:off x="643464" y="2592528"/>
            <a:ext cx="11717870" cy="24790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 anchor="b">
            <a:normAutofit fontScale="100000" lnSpcReduction="0"/>
          </a:bodyPr>
          <a:lstStyle/>
          <a:p>
            <a:pPr/>
            <a:r>
              <a:t>Presentation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640715" y="5071568"/>
            <a:ext cx="11717869" cy="10160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>
            <a:normAutofit fontScale="100000" lnSpcReduction="0"/>
          </a:bodyPr>
          <a:lstStyle/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80889" y="8167800"/>
            <a:ext cx="236357" cy="227720"/>
          </a:xfrm>
          <a:prstGeom prst="rect">
            <a:avLst/>
          </a:prstGeom>
          <a:ln w="3175">
            <a:miter lim="400000"/>
          </a:ln>
        </p:spPr>
        <p:txBody>
          <a:bodyPr wrap="none" lIns="27093" tIns="27093" rIns="27093" bIns="27093" anchor="b">
            <a:spAutoFit/>
          </a:bodyPr>
          <a:lstStyle>
            <a:lvl1pPr defTabSz="415431">
              <a:defRPr sz="12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4" strike="noStrike" sz="8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Julio de Lima, 4 de julho de 2025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Julio de Lima, 4 de julho de 2025</a:t>
            </a:r>
          </a:p>
        </p:txBody>
      </p:sp>
      <p:sp>
        <p:nvSpPr>
          <p:cNvPr id="152" name="Contratação de QAs Adicionais para as Squad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1595215">
              <a:defRPr spc="-150" sz="7544"/>
            </a:lvl1pPr>
          </a:lstStyle>
          <a:p>
            <a:pPr/>
            <a:r>
              <a:t>Contratação de QAs Adicionais para as Squads</a:t>
            </a:r>
          </a:p>
        </p:txBody>
      </p:sp>
      <p:sp>
        <p:nvSpPr>
          <p:cNvPr id="153" name="Business Cas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Business Case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umário Executiv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69804">
              <a:defRPr spc="-94" sz="4740"/>
            </a:lvl1pPr>
          </a:lstStyle>
          <a:p>
            <a:pPr/>
            <a:r>
              <a:t>Sumário Executivo</a:t>
            </a:r>
          </a:p>
        </p:txBody>
      </p:sp>
      <p:sp>
        <p:nvSpPr>
          <p:cNvPr id="156" name="Uma descrição geral do Business Cas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Uma descrição geral do Business Case</a:t>
            </a:r>
          </a:p>
        </p:txBody>
      </p:sp>
      <p:sp>
        <p:nvSpPr>
          <p:cNvPr id="157" name="Após análise da atuação dos QAs nas Squads A, B e C, percebemos que há uma discrepância entre a quantidade de trabalho e o número de QAs atuando nos time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Após análise da atuação dos QAs nas Squads A, B e C, percebemos que há uma discrepância entre a quantidade de trabalho e o número de QAs atuando nos times.</a:t>
            </a:r>
          </a:p>
          <a:p>
            <a:pPr/>
            <a:r>
              <a:t>Esse Business Case propõe a contratação de QAs adicionais para operar nessas 3 Squads.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Objetiv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69804">
              <a:defRPr spc="-94" sz="4740"/>
            </a:lvl1pPr>
          </a:lstStyle>
          <a:p>
            <a:pPr/>
            <a:r>
              <a:t>Objetivo</a:t>
            </a:r>
          </a:p>
        </p:txBody>
      </p:sp>
      <p:sp>
        <p:nvSpPr>
          <p:cNvPr id="160" name="Contratação de 3 QAs adicionai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Contratação de 3 QAs adicionais</a:t>
            </a:r>
          </a:p>
        </p:txBody>
      </p:sp>
      <p:sp>
        <p:nvSpPr>
          <p:cNvPr id="161" name="Problema"/>
          <p:cNvSpPr txBox="1"/>
          <p:nvPr>
            <p:ph type="body" sz="quarter" idx="1"/>
          </p:nvPr>
        </p:nvSpPr>
        <p:spPr>
          <a:xfrm>
            <a:off x="643466" y="3485069"/>
            <a:ext cx="4830321" cy="927359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b="1" sz="2900"/>
            </a:lvl1pPr>
          </a:lstStyle>
          <a:p>
            <a:pPr/>
            <a:r>
              <a:t>Problema</a:t>
            </a:r>
          </a:p>
        </p:txBody>
      </p:sp>
      <p:sp>
        <p:nvSpPr>
          <p:cNvPr id="162" name="Solução"/>
          <p:cNvSpPr txBox="1"/>
          <p:nvPr/>
        </p:nvSpPr>
        <p:spPr>
          <a:xfrm>
            <a:off x="5951547" y="3485069"/>
            <a:ext cx="4830322" cy="92735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>
            <a:normAutofit fontScale="100000" lnSpcReduction="0"/>
          </a:bodyPr>
          <a:lstStyle>
            <a:lvl1pPr algn="l">
              <a:lnSpc>
                <a:spcPct val="90000"/>
              </a:lnSpc>
              <a:spcBef>
                <a:spcPts val="3200"/>
              </a:spcBef>
              <a:defRPr b="1" sz="2900">
                <a:solidFill>
                  <a:srgbClr val="000000"/>
                </a:solidFill>
              </a:defRPr>
            </a:lvl1pPr>
          </a:lstStyle>
          <a:p>
            <a:pPr/>
            <a:r>
              <a:t>Solução</a:t>
            </a:r>
          </a:p>
        </p:txBody>
      </p:sp>
      <p:sp>
        <p:nvSpPr>
          <p:cNvPr id="163" name="Adicionar um QA a mais em cada uma das 3 Squads, tento assim, capacidade o suficiente para lidar com o esforço necessário."/>
          <p:cNvSpPr txBox="1"/>
          <p:nvPr/>
        </p:nvSpPr>
        <p:spPr>
          <a:xfrm>
            <a:off x="5951547" y="4198342"/>
            <a:ext cx="4830322" cy="322431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>
            <a:normAutofit fontScale="100000" lnSpcReduction="0"/>
          </a:bodyPr>
          <a:lstStyle>
            <a:lvl1pPr algn="l">
              <a:lnSpc>
                <a:spcPct val="90000"/>
              </a:lnSpc>
              <a:spcBef>
                <a:spcPts val="3200"/>
              </a:spcBef>
              <a:defRPr sz="2900">
                <a:solidFill>
                  <a:srgbClr val="000000"/>
                </a:solidFill>
              </a:defRPr>
            </a:lvl1pPr>
          </a:lstStyle>
          <a:p>
            <a:pPr/>
            <a:r>
              <a:t>Adicionar um QA a mais em cada uma das 3 Squads, tento assim, capacidade o suficiente para lidar com o esforço necessário.</a:t>
            </a:r>
          </a:p>
        </p:txBody>
      </p:sp>
      <p:sp>
        <p:nvSpPr>
          <p:cNvPr id="164" name="Nas últimas 3 Sprints notou-se um número muito grande de tarefas de teste, equivalente a 2 QAs, quando na verdade cada Squad possui apenas 1. Dados extraídos do Jira das Squads A, B e C."/>
          <p:cNvSpPr txBox="1"/>
          <p:nvPr/>
        </p:nvSpPr>
        <p:spPr>
          <a:xfrm>
            <a:off x="643466" y="4198342"/>
            <a:ext cx="4830321" cy="367950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>
            <a:normAutofit fontScale="100000" lnSpcReduction="0"/>
          </a:bodyPr>
          <a:lstStyle>
            <a:lvl1pPr algn="l">
              <a:lnSpc>
                <a:spcPct val="90000"/>
              </a:lnSpc>
              <a:spcBef>
                <a:spcPts val="3200"/>
              </a:spcBef>
              <a:defRPr sz="2900">
                <a:solidFill>
                  <a:srgbClr val="000000"/>
                </a:solidFill>
              </a:defRPr>
            </a:lvl1pPr>
          </a:lstStyle>
          <a:p>
            <a:pPr/>
            <a:r>
              <a:t>Nas últimas 3 Sprints notou-se um número muito grande de tarefas de teste, equivalente a 2 QAs, quando na verdade cada Squad possui apenas 1. Dados extraídos do Jira das Squads A, B e C.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Op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69804">
              <a:defRPr spc="-94" sz="4740"/>
            </a:lvl1pPr>
          </a:lstStyle>
          <a:p>
            <a:pPr/>
            <a:r>
              <a:t>Opções</a:t>
            </a:r>
          </a:p>
        </p:txBody>
      </p:sp>
      <p:sp>
        <p:nvSpPr>
          <p:cNvPr id="167" name="Como podemos endereçar a contratação de QA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Como podemos endereçar a contratação de QAs</a:t>
            </a:r>
          </a:p>
        </p:txBody>
      </p:sp>
      <p:sp>
        <p:nvSpPr>
          <p:cNvPr id="168" name="Contratar diretamente para trabalhar na nossa empresa fazendo uso dos métodos comuns de contratação do nosso RH."/>
          <p:cNvSpPr txBox="1"/>
          <p:nvPr>
            <p:ph type="body" sz="quarter" idx="1"/>
          </p:nvPr>
        </p:nvSpPr>
        <p:spPr>
          <a:xfrm>
            <a:off x="643466" y="4131991"/>
            <a:ext cx="5299184" cy="2962859"/>
          </a:xfrm>
          <a:prstGeom prst="rect">
            <a:avLst/>
          </a:prstGeom>
        </p:spPr>
        <p:txBody>
          <a:bodyPr/>
          <a:lstStyle/>
          <a:p>
            <a:pPr/>
            <a:r>
              <a:t>Contratar diretamente para trabalhar na nossa empresa fazendo uso dos métodos comuns de contratação do nosso RH.</a:t>
            </a:r>
          </a:p>
        </p:txBody>
      </p:sp>
      <p:sp>
        <p:nvSpPr>
          <p:cNvPr id="169" name="Contratar uma empresa de consultoria para fornecer esse profissional como recurso temporário."/>
          <p:cNvSpPr txBox="1"/>
          <p:nvPr/>
        </p:nvSpPr>
        <p:spPr>
          <a:xfrm>
            <a:off x="6382829" y="4131991"/>
            <a:ext cx="5299185" cy="296285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>
            <a:normAutofit fontScale="100000" lnSpcReduction="0"/>
          </a:bodyPr>
          <a:lstStyle>
            <a:lvl1pPr marL="431800" indent="-431800" algn="l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>
                <a:solidFill>
                  <a:srgbClr val="000000"/>
                </a:solidFill>
              </a:defRPr>
            </a:lvl1pPr>
          </a:lstStyle>
          <a:p>
            <a:pPr/>
            <a:r>
              <a:t>Contratar uma empresa de consultoria para fornecer esse profissional como recurso temporário.</a:t>
            </a:r>
          </a:p>
        </p:txBody>
      </p:sp>
      <p:sp>
        <p:nvSpPr>
          <p:cNvPr id="170" name="Opção 2"/>
          <p:cNvSpPr txBox="1"/>
          <p:nvPr/>
        </p:nvSpPr>
        <p:spPr>
          <a:xfrm>
            <a:off x="6382829" y="3186489"/>
            <a:ext cx="5299185" cy="84176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>
            <a:normAutofit fontScale="100000" lnSpcReduction="0"/>
          </a:bodyPr>
          <a:lstStyle>
            <a:lvl1pPr algn="l">
              <a:lnSpc>
                <a:spcPct val="90000"/>
              </a:lnSpc>
              <a:spcBef>
                <a:spcPts val="3200"/>
              </a:spcBef>
              <a:defRPr b="1" sz="3400">
                <a:solidFill>
                  <a:srgbClr val="000000"/>
                </a:solidFill>
              </a:defRPr>
            </a:lvl1pPr>
          </a:lstStyle>
          <a:p>
            <a:pPr/>
            <a:r>
              <a:t>Opção 2</a:t>
            </a:r>
          </a:p>
        </p:txBody>
      </p:sp>
      <p:sp>
        <p:nvSpPr>
          <p:cNvPr id="171" name="Opção 1"/>
          <p:cNvSpPr txBox="1"/>
          <p:nvPr/>
        </p:nvSpPr>
        <p:spPr>
          <a:xfrm>
            <a:off x="643466" y="3186489"/>
            <a:ext cx="5299184" cy="84176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>
            <a:normAutofit fontScale="100000" lnSpcReduction="0"/>
          </a:bodyPr>
          <a:lstStyle>
            <a:lvl1pPr algn="l">
              <a:lnSpc>
                <a:spcPct val="90000"/>
              </a:lnSpc>
              <a:spcBef>
                <a:spcPts val="3200"/>
              </a:spcBef>
              <a:defRPr b="1" sz="3400">
                <a:solidFill>
                  <a:srgbClr val="000000"/>
                </a:solidFill>
              </a:defRPr>
            </a:lvl1pPr>
          </a:lstStyle>
          <a:p>
            <a:pPr/>
            <a:r>
              <a:t>Opção 1</a:t>
            </a:r>
          </a:p>
        </p:txBody>
      </p:sp>
      <p:sp>
        <p:nvSpPr>
          <p:cNvPr id="172" name="Prós: A pessoa será mais comprometida visto que o produto é seu.…"/>
          <p:cNvSpPr txBox="1"/>
          <p:nvPr/>
        </p:nvSpPr>
        <p:spPr>
          <a:xfrm>
            <a:off x="643466" y="7198591"/>
            <a:ext cx="5299184" cy="296285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>
            <a:normAutofit fontScale="100000" lnSpcReduction="0"/>
          </a:bodyPr>
          <a:lstStyle/>
          <a:p>
            <a:pPr algn="l" defTabSz="1716590">
              <a:lnSpc>
                <a:spcPct val="90000"/>
              </a:lnSpc>
              <a:spcBef>
                <a:spcPts val="3100"/>
              </a:spcBef>
              <a:defRPr sz="2475">
                <a:solidFill>
                  <a:srgbClr val="000000"/>
                </a:solidFill>
              </a:defRPr>
            </a:pPr>
            <a:r>
              <a:rPr b="1"/>
              <a:t>Prós: </a:t>
            </a:r>
            <a:r>
              <a:t>A pessoa será mais comprometida visto que o produto é seu.</a:t>
            </a:r>
          </a:p>
          <a:p>
            <a:pPr algn="l" defTabSz="1716590">
              <a:lnSpc>
                <a:spcPct val="90000"/>
              </a:lnSpc>
              <a:spcBef>
                <a:spcPts val="3100"/>
              </a:spcBef>
              <a:defRPr sz="2475">
                <a:solidFill>
                  <a:srgbClr val="000000"/>
                </a:solidFill>
              </a:defRPr>
            </a:pPr>
            <a:r>
              <a:rPr b="1"/>
              <a:t>Contras: </a:t>
            </a:r>
            <a:r>
              <a:t>Leva mais tempo para contratação.</a:t>
            </a:r>
          </a:p>
        </p:txBody>
      </p:sp>
      <p:sp>
        <p:nvSpPr>
          <p:cNvPr id="173" name="Prós: Contratação rápida e pessoal experiente.…"/>
          <p:cNvSpPr txBox="1"/>
          <p:nvPr/>
        </p:nvSpPr>
        <p:spPr>
          <a:xfrm>
            <a:off x="6382829" y="7198591"/>
            <a:ext cx="5299185" cy="296285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093" tIns="27093" rIns="27093" bIns="27093">
            <a:normAutofit fontScale="100000" lnSpcReduction="0"/>
          </a:bodyPr>
          <a:lstStyle/>
          <a:p>
            <a:pPr algn="l">
              <a:lnSpc>
                <a:spcPct val="90000"/>
              </a:lnSpc>
              <a:spcBef>
                <a:spcPts val="3200"/>
              </a:spcBef>
              <a:defRPr sz="2500">
                <a:solidFill>
                  <a:srgbClr val="000000"/>
                </a:solidFill>
              </a:defRPr>
            </a:pPr>
            <a:r>
              <a:rPr b="1"/>
              <a:t>Prós: </a:t>
            </a:r>
            <a:r>
              <a:t>Contratação rápida e pessoal experiente.</a:t>
            </a:r>
          </a:p>
          <a:p>
            <a:pPr algn="l">
              <a:lnSpc>
                <a:spcPct val="90000"/>
              </a:lnSpc>
              <a:spcBef>
                <a:spcPts val="3200"/>
              </a:spcBef>
              <a:defRPr sz="2500">
                <a:solidFill>
                  <a:srgbClr val="000000"/>
                </a:solidFill>
              </a:defRPr>
            </a:pPr>
            <a:r>
              <a:rPr b="1"/>
              <a:t>Contras: </a:t>
            </a:r>
            <a:r>
              <a:t>Consultores terão menos senso de dono do que um funcionário em si.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rso da 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69804">
              <a:defRPr spc="-94" sz="4740"/>
            </a:lvl1pPr>
          </a:lstStyle>
          <a:p>
            <a:pPr/>
            <a:r>
              <a:t>Curso da Ação</a:t>
            </a:r>
          </a:p>
        </p:txBody>
      </p:sp>
      <p:sp>
        <p:nvSpPr>
          <p:cNvPr id="176" name="Entendendo melhor as opçõe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Entendendo melhor as opções</a:t>
            </a:r>
          </a:p>
        </p:txBody>
      </p:sp>
      <p:graphicFrame>
        <p:nvGraphicFramePr>
          <p:cNvPr id="177" name="Table"/>
          <p:cNvGraphicFramePr/>
          <p:nvPr/>
        </p:nvGraphicFramePr>
        <p:xfrm>
          <a:off x="646922" y="3734422"/>
          <a:ext cx="11402171" cy="4403207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849748"/>
                <a:gridCol w="2849748"/>
                <a:gridCol w="2849748"/>
                <a:gridCol w="2849748"/>
              </a:tblGrid>
              <a:tr h="1466677">
                <a:tc>
                  <a:txBody>
                    <a:bodyPr/>
                    <a:lstStyle/>
                    <a:p>
                      <a:pPr defTabSz="914400">
                        <a:tabLst>
                          <a:tab pos="1181100" algn="l"/>
                        </a:tabLst>
                        <a:defRPr sz="2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181100" algn="l"/>
                        </a:tabLst>
                        <a:defRPr b="0" sz="1800"/>
                      </a:pPr>
                      <a:r>
                        <a:rPr b="1" sz="2200"/>
                        <a:t>Custo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181100" algn="l"/>
                        </a:tabLst>
                        <a:defRPr b="0" sz="1800"/>
                      </a:pPr>
                      <a:r>
                        <a:rPr b="1" sz="2200"/>
                        <a:t>Benefício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181100" algn="l"/>
                        </a:tabLst>
                        <a:defRPr b="0" sz="1800"/>
                      </a:pPr>
                      <a:r>
                        <a:rPr b="1" sz="2200"/>
                        <a:t>Prioridade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466677">
                <a:tc>
                  <a:txBody>
                    <a:bodyPr/>
                    <a:lstStyle/>
                    <a:p>
                      <a:pPr defTabSz="914400">
                        <a:tabLst>
                          <a:tab pos="1181100" algn="l"/>
                        </a:tabLst>
                        <a:defRPr b="0" sz="1800"/>
                      </a:pPr>
                      <a:r>
                        <a:rPr b="1" sz="2200"/>
                        <a:t>Opção 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/>
                        <a:t>Alto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/>
                        <a:t>Médio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/>
                        <a:t>Média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466677">
                <a:tc>
                  <a:txBody>
                    <a:bodyPr/>
                    <a:lstStyle/>
                    <a:p>
                      <a:pPr defTabSz="914400">
                        <a:tabLst>
                          <a:tab pos="1181100" algn="l"/>
                        </a:tabLst>
                        <a:defRPr b="0" sz="1800"/>
                      </a:pPr>
                      <a:r>
                        <a:rPr b="1" sz="2200"/>
                        <a:t>Opção 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/>
                        <a:t>Médio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/>
                        <a:t>Alto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/>
                        <a:t>Alta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  <p:sp>
        <p:nvSpPr>
          <p:cNvPr id="178" name="Arrow"/>
          <p:cNvSpPr/>
          <p:nvPr/>
        </p:nvSpPr>
        <p:spPr>
          <a:xfrm>
            <a:off x="177800" y="6729963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000000"/>
          </a:solidFill>
          <a:ln w="3175">
            <a:miter lim="400000"/>
          </a:ln>
        </p:spPr>
        <p:txBody>
          <a:bodyPr lIns="27093" tIns="27093" rIns="27093" bIns="27093" anchor="ctr"/>
          <a:lstStyle/>
          <a:p>
            <a:pPr defTabSz="587022"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Definir a Estratégi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69804">
              <a:defRPr spc="-94" sz="4740"/>
            </a:lvl1pPr>
          </a:lstStyle>
          <a:p>
            <a:pPr/>
            <a:r>
              <a:t>Definir a Estratégia</a:t>
            </a:r>
          </a:p>
        </p:txBody>
      </p:sp>
      <p:sp>
        <p:nvSpPr>
          <p:cNvPr id="181" name="Quais ações precisam ser realizada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Quais ações precisam ser realizadas</a:t>
            </a:r>
          </a:p>
        </p:txBody>
      </p:sp>
      <p:sp>
        <p:nvSpPr>
          <p:cNvPr id="182" name="Definição da descrição da vag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29708" indent="-629708">
              <a:buSzPct val="100000"/>
              <a:buAutoNum type="arabicPeriod" startAt="1"/>
            </a:pPr>
            <a:r>
              <a:t>Definição da descrição da vaga</a:t>
            </a:r>
          </a:p>
          <a:p>
            <a:pPr marL="629708" indent="-629708">
              <a:buSzPct val="100000"/>
              <a:buAutoNum type="arabicPeriod" startAt="1"/>
            </a:pPr>
            <a:r>
              <a:t>Requisição junto a consultoria</a:t>
            </a:r>
          </a:p>
          <a:p>
            <a:pPr marL="629708" indent="-629708">
              <a:buSzPct val="100000"/>
              <a:buAutoNum type="arabicPeriod" startAt="1"/>
            </a:pPr>
            <a:r>
              <a:t>Entrevista com o consultor</a:t>
            </a:r>
          </a:p>
          <a:p>
            <a:pPr marL="629708" indent="-629708">
              <a:buSzPct val="100000"/>
              <a:buAutoNum type="arabicPeriod" startAt="1"/>
            </a:pPr>
            <a:r>
              <a:t>Onboarding na plataforma e time</a:t>
            </a:r>
          </a:p>
          <a:p>
            <a:pPr marL="629708" indent="-629708">
              <a:buSzPct val="100000"/>
              <a:buAutoNum type="arabicPeriod" startAt="1"/>
            </a:pPr>
            <a:r>
              <a:t>Início da atuação no time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093" tIns="27093" rIns="27093" bIns="27093" numCol="1" spcCol="38100" rtlCol="0" anchor="ctr" upright="0">
        <a:spAutoFit/>
      </a:bodyPr>
      <a:lstStyle>
        <a:defPPr marL="0" marR="0" indent="0" algn="ctr" defTabSz="58702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093" tIns="27093" rIns="27093" bIns="27093" numCol="1" spcCol="38100" rtlCol="0" anchor="ctr" upright="0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093" tIns="27093" rIns="27093" bIns="27093" numCol="1" spcCol="38100" rtlCol="0" anchor="ctr" upright="0">
        <a:spAutoFit/>
      </a:bodyPr>
      <a:lstStyle>
        <a:defPPr marL="0" marR="0" indent="0" algn="ctr" defTabSz="58702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093" tIns="27093" rIns="27093" bIns="27093" numCol="1" spcCol="38100" rtlCol="0" anchor="ctr" upright="0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